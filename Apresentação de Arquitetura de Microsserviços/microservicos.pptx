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74320"/>
            <a:ext cx="1645920" cy="1645920"/>
          </a:xfrm>
          <a:prstGeom prst="ellipse">
            <a:avLst/>
          </a:prstGeom>
          <a:solidFill>
            <a:srgbClr val="0F52BA">
              <a:alpha val="60000"/>
            </a:srgbClr>
          </a:solidFill>
          <a:ln w="12700">
            <a:solidFill>
              <a:srgbClr val="0F52BA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2286000"/>
            <a:ext cx="1097280" cy="1097280"/>
          </a:xfrm>
          <a:prstGeom prst="ellipse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3200400"/>
            <a:ext cx="731520" cy="731520"/>
          </a:xfrm>
          <a:prstGeom prst="ellipse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5720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0F52BA"/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UNISENAI — ADS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Microserviços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0B4C8"/>
                </a:solidFill>
              </a:rPr>
              <a:t>Padrões de Arquitetura de Software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45720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37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</a:rPr>
              <a:t>Apresentação: 22/04/2026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64592" cy="1645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8221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Conceito e Histórico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096512"/>
            <a:ext cx="164592" cy="1645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07822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Princípios e Padrões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352544"/>
            <a:ext cx="164592" cy="1645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3342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Segurança e Observabilidade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608576"/>
            <a:ext cx="164592" cy="1645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5902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Demo Spring Boot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52BA"/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Arquitetura de Microserviços?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D4F0"/>
                </a:solidFill>
              </a:rPr>
              <a:t>Conceito fundamental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1005840"/>
          </a:xfrm>
          <a:prstGeom prst="rect">
            <a:avLst/>
          </a:prstGeom>
          <a:solidFill>
            <a:srgbClr val="0F52BA">
              <a:alpha val="10000"/>
            </a:srgbClr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Uma aplicação desenvolvida como um conjunto de pequenos serviços independentes, cada um executando em seu próprio processo e se comunicando por APIs leves.</a:t>
            </a:r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"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— Martin Fowler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23160"/>
            <a:ext cx="2651760" cy="73152"/>
          </a:xfrm>
          <a:prstGeom prst="rect">
            <a:avLst/>
          </a:prstGeom>
          <a:solidFill>
            <a:srgbClr val="0F52BA"/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Serviços Pequenos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971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Cada serviço faz UMA coisa bem feita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42316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2423160"/>
            <a:ext cx="26517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Independentes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971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Deploy, escala e falha de forma isolada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42316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2423160"/>
            <a:ext cx="265176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Comunicação via API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2971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HTTP/REST ou mensageria assíncrona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52BA"/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Histórica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D4F0"/>
                </a:solidFill>
              </a:rPr>
              <a:t>Do Monolito aos Microserviços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822960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377440"/>
            <a:ext cx="457200" cy="45720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005840"/>
            <a:ext cx="18288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1960–70s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0" y="1234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Mainframes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Monolíticos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Tudo junto,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não escalável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2377440"/>
            <a:ext cx="457200" cy="4572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1005840"/>
            <a:ext cx="18288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1168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1980–90s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0" y="1234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RPC / CORBA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1ª tentativa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distribuída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377440"/>
            <a:ext cx="457200" cy="457200"/>
          </a:xfrm>
          <a:prstGeom prst="ellipse">
            <a:avLst/>
          </a:prstGeom>
          <a:solidFill>
            <a:srgbClr val="0F52BA"/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0" y="1005840"/>
            <a:ext cx="18288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52B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2336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2BA"/>
                </a:solidFill>
              </a:rPr>
              <a:t>2000s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23360" y="1234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SOA / ESB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2336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Serviços, mas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centralizado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20840" y="23774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1005840"/>
            <a:ext cx="18288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3504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2010+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35040" y="1234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Microserviços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Descentralizado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+ Cloud Native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0" y="2624328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3840480" y="2624328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5852160" y="2624328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365760" y="374904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82219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</a:rPr>
              <a:t>💡  Microserviços surgiram para resolver os gargalos reais do Monolito e os problemas de centralização do ESB na SOA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52BA"/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Monolito vs SOA vs Microserviços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D4F0"/>
                </a:solidFill>
              </a:rPr>
              <a:t>Comparativo técnico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85039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1828800"/>
                <a:gridCol w="2286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Característica</a:t>
                      </a:r>
                      <a:endParaRPr lang="en-US" sz="1100" dirty="0"/>
                    </a:p>
                  </a:txBody>
                  <a:tcPr marL="NaN" marR="NaN" marT="NaN" marB="NaN">
                    <a:lnL w="12700" cap="flat" cmpd="sng" algn="ctr">
                      <a:solidFill>
                        <a:srgbClr val="1E4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2B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Monolito</a:t>
                      </a:r>
                      <a:endParaRPr lang="en-US" sz="1100" dirty="0"/>
                    </a:p>
                  </a:txBody>
                  <a:tcPr marL="NaN" marR="NaN" marT="NaN" marB="NaN">
                    <a:lnL w="12700" cap="flat" cmpd="sng" algn="ctr">
                      <a:solidFill>
                        <a:srgbClr val="1E4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2B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SOA</a:t>
                      </a:r>
                      <a:endParaRPr lang="en-US" sz="1100" dirty="0"/>
                    </a:p>
                  </a:txBody>
                  <a:tcPr marL="NaN" marR="NaN" marT="NaN" marB="NaN">
                    <a:lnL w="12700" cap="flat" cmpd="sng" algn="ctr">
                      <a:solidFill>
                        <a:srgbClr val="1E4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2B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Microserviços</a:t>
                      </a:r>
                      <a:endParaRPr lang="en-US" sz="1100" dirty="0"/>
                    </a:p>
                  </a:txBody>
                  <a:tcPr marL="NaN" marR="NaN" marT="NaN" marB="NaN">
                    <a:lnL w="12700" cap="flat" cmpd="sng" algn="ctr">
                      <a:solidFill>
                        <a:srgbClr val="1E4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4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4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40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2B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Escalabilidade</a:t>
                      </a:r>
                      <a:endParaRPr lang="en-US" sz="1000" dirty="0"/>
                    </a:p>
                  </a:txBody>
                  <a:tcPr marL="NaN" marR="NaN" marT="NaN" marB="NaN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Toda a app</a:t>
                      </a:r>
                      <a:endParaRPr lang="en-US" sz="1000" dirty="0"/>
                    </a:p>
                  </a:txBody>
                  <a:tcPr marL="NaN" marR="NaN" marT="NaN" marB="NaN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Por serviço (c/ ESB)</a:t>
                      </a:r>
                      <a:endParaRPr lang="en-US" sz="1000" dirty="0"/>
                    </a:p>
                  </a:txBody>
                  <a:tcPr marL="NaN" marR="NaN" marT="NaN" marB="NaN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Granular por serviço</a:t>
                      </a:r>
                      <a:endParaRPr lang="en-US" sz="1000" dirty="0"/>
                    </a:p>
                  </a:txBody>
                  <a:tcPr marL="NaN" marR="NaN" marT="NaN" marB="NaN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Isolamento de falhas</a:t>
                      </a:r>
                      <a:endParaRPr lang="en-US" sz="1000" dirty="0"/>
                    </a:p>
                  </a:txBody>
                  <a:tcPr marL="NaN" marR="NaN" marT="NaN" marB="NaN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Baixo</a:t>
                      </a:r>
                      <a:endParaRPr lang="en-US" sz="1000" dirty="0"/>
                    </a:p>
                  </a:txBody>
                  <a:tcPr marL="NaN" marR="NaN" marT="NaN" marB="NaN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Moderado</a:t>
                      </a:r>
                      <a:endParaRPr lang="en-US" sz="1000" dirty="0"/>
                    </a:p>
                  </a:txBody>
                  <a:tcPr marL="NaN" marR="NaN" marT="NaN" marB="NaN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Alto</a:t>
                      </a:r>
                      <a:endParaRPr lang="en-US" sz="1000" dirty="0"/>
                    </a:p>
                  </a:txBody>
                  <a:tcPr marL="NaN" marR="NaN" marT="NaN" marB="NaN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Tecnologias</a:t>
                      </a:r>
                      <a:endParaRPr lang="en-US" sz="1000" dirty="0"/>
                    </a:p>
                  </a:txBody>
                  <a:tcPr marL="NaN" marR="NaN" marT="NaN" marB="NaN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Homogênea</a:t>
                      </a:r>
                      <a:endParaRPr lang="en-US" sz="1000" dirty="0"/>
                    </a:p>
                  </a:txBody>
                  <a:tcPr marL="NaN" marR="NaN" marT="NaN" marB="NaN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Limitada</a:t>
                      </a:r>
                      <a:endParaRPr lang="en-US" sz="1000" dirty="0"/>
                    </a:p>
                  </a:txBody>
                  <a:tcPr marL="NaN" marR="NaN" marT="NaN" marB="NaN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Poliglota (livre)</a:t>
                      </a:r>
                      <a:endParaRPr lang="en-US" sz="1000" dirty="0"/>
                    </a:p>
                  </a:txBody>
                  <a:tcPr marL="NaN" marR="NaN" marT="NaN" marB="NaN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Complexidade ops.</a:t>
                      </a:r>
                      <a:endParaRPr lang="en-US" sz="1000" dirty="0"/>
                    </a:p>
                  </a:txBody>
                  <a:tcPr marL="NaN" marR="NaN" marT="NaN" marB="NaN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Baixa no início</a:t>
                      </a:r>
                      <a:endParaRPr lang="en-US" sz="1000" dirty="0"/>
                    </a:p>
                  </a:txBody>
                  <a:tcPr marL="NaN" marR="NaN" marT="NaN" marB="NaN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Moderada</a:t>
                      </a:r>
                      <a:endParaRPr lang="en-US" sz="1000" dirty="0"/>
                    </a:p>
                  </a:txBody>
                  <a:tcPr marL="NaN" marR="NaN" marT="NaN" marB="NaN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Alta desde o dia 1</a:t>
                      </a:r>
                      <a:endParaRPr lang="en-US" sz="1000" dirty="0"/>
                    </a:p>
                  </a:txBody>
                  <a:tcPr marL="NaN" marR="NaN" marT="NaN" marB="NaN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Deploy</a:t>
                      </a:r>
                      <a:endParaRPr lang="en-US" sz="1000" dirty="0"/>
                    </a:p>
                  </a:txBody>
                  <a:tcPr marL="NaN" marR="NaN" marT="NaN" marB="NaN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App inteira</a:t>
                      </a:r>
                      <a:endParaRPr lang="en-US" sz="1000" dirty="0"/>
                    </a:p>
                  </a:txBody>
                  <a:tcPr marL="NaN" marR="NaN" marT="NaN" marB="NaN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Por serviço</a:t>
                      </a:r>
                      <a:endParaRPr lang="en-US" sz="1000" dirty="0"/>
                    </a:p>
                  </a:txBody>
                  <a:tcPr marL="NaN" marR="NaN" marT="NaN" marB="NaN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Independente</a:t>
                      </a:r>
                      <a:endParaRPr lang="en-US" sz="1000" dirty="0"/>
                    </a:p>
                  </a:txBody>
                  <a:tcPr marL="NaN" marR="NaN" marT="NaN" marB="NaN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537960" y="1005840"/>
            <a:ext cx="233172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3434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★ Escolha certa para alta escala com autonomia por equipe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52BA"/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 Fundamentais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D4F0"/>
                </a:solidFill>
              </a:rPr>
              <a:t>Os 6 pilares do design de microserviços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2743200" cy="54864"/>
          </a:xfrm>
          <a:prstGeom prst="rect">
            <a:avLst/>
          </a:prstGeom>
          <a:solidFill>
            <a:srgbClr val="0F52BA"/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16152"/>
            <a:ext cx="411480" cy="411480"/>
          </a:xfrm>
          <a:prstGeom prst="ellipse">
            <a:avLst/>
          </a:prstGeom>
          <a:solidFill>
            <a:srgbClr val="0F52BA">
              <a:alpha val="85000"/>
            </a:srgbClr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21615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Componentização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1709928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Serviços como processos isolados com API bem definida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05156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51560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0128" y="1216152"/>
            <a:ext cx="411480" cy="411480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4760" y="121615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Orientado a Domínio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1709928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Cada serviço = uma capacidade de negócio (DDD)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105156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051560"/>
            <a:ext cx="2743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0488" y="1216152"/>
            <a:ext cx="411480" cy="411480"/>
          </a:xfrm>
          <a:prstGeom prst="ellipse">
            <a:avLst/>
          </a:prstGeom>
          <a:solidFill>
            <a:srgbClr val="00D4FF">
              <a:alpha val="8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121615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Endpoints Inteligentes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90488" y="1709928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Lógica nos serviços, rede burra (sem ESB)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0175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017520"/>
            <a:ext cx="27432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" y="3182112"/>
            <a:ext cx="411480" cy="411480"/>
          </a:xfrm>
          <a:prstGeom prst="ellipse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318211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Governança Descentralizada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9768" y="3675888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Cada equipe escolhe sua stack livremente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30175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301752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10128" y="3182112"/>
            <a:ext cx="411480" cy="41148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0128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94760" y="318211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Dados Descentralizados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10128" y="3675888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Um banco por serviço, sem compartilhamento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80760" y="30175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0760" y="301752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90488" y="3182112"/>
            <a:ext cx="411480" cy="411480"/>
          </a:xfrm>
          <a:prstGeom prst="ellipse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0488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75120" y="318211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Design para Falhas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90488" y="3675888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Todo serviço espera que dependências falhem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52BA"/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Arquiteturais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D4F0"/>
                </a:solidFill>
              </a:rPr>
              <a:t>Soluções para problemas recorrentes em sistemas distribuídos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73152" cy="1737360"/>
          </a:xfrm>
          <a:prstGeom prst="rect">
            <a:avLst/>
          </a:prstGeom>
          <a:solidFill>
            <a:srgbClr val="0F52BA"/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188720"/>
            <a:ext cx="248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🔀 API Gateway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64592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Ponto de entrada único. Roteamento, auth, rate limiting.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51560"/>
            <a:ext cx="73152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188720"/>
            <a:ext cx="248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⚡ Circuit Breaker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64992" y="164592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Evita cascata de falhas. Abre o circuito quando serviço falha.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0515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051560"/>
            <a:ext cx="73152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188720"/>
            <a:ext cx="248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🔍 Service Discovery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5352" y="164592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Lista telefônica dinâmica de serviços ativos na rede.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9718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71800"/>
            <a:ext cx="73152" cy="1737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3108960"/>
            <a:ext cx="248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🔄 SAGA Pattern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" y="356616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Transações distribuídas por eventos ou orquestração.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29718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971800"/>
            <a:ext cx="73152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3108960"/>
            <a:ext cx="248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🌱 Strangler Fig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64992" y="356616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Migração gradual do monolito sem parada total.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29718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2971800"/>
            <a:ext cx="73152" cy="1737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45352" y="3108960"/>
            <a:ext cx="248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🛡️ Bulkhead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45352" y="356616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Isola pools de recursos para falhas não se propagarem.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52BA"/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 de Dados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D4F0"/>
                </a:solidFill>
              </a:rPr>
              <a:t>O maior desafio dos sistemas distribuídos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O Problema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3931920" cy="256032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</a:rPr>
              <a:t>✗  ACID não funciona em sistemas distribuídos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03911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</a:rPr>
              <a:t>✗  Two-Phase Commit (2PC) gera deadlocks e latência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56946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</a:rPr>
              <a:t>✗  Rede pode cair entre as etapas de uma transação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9981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</a:rPr>
              <a:t>✗  Dados ficam inconsistentes entre serviços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A Solução: SAGA Pattern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417320"/>
            <a:ext cx="3931920" cy="256032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✓  Coreografia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1828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Serviços reagem a eventos (Kafka). Descoplado, mas difícil debugar.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2651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✓  Orquestração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9260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Um orquestrador central coordena. Mais controle, ponto focal.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1051560"/>
            <a:ext cx="0" cy="301752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65760" y="416052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EFF6FF"/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206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</a:rPr>
              <a:t>💡  Consistência Eventual: aceitamos que dados podem estar momentaneamente desincronizados, mas eventualmente convergem para o estado correto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52BA"/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Zero Trust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D4F0"/>
                </a:solidFill>
              </a:rPr>
              <a:t>Nunca confie, sempre verifique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</a:rPr>
              <a:t>Zero Trust: "Nenhuma requisição é confiável por padrão — mesmo dentro da rede interna"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1938528"/>
            <a:ext cx="640080" cy="640080"/>
          </a:xfrm>
          <a:prstGeom prst="ellipse">
            <a:avLst/>
          </a:prstGeom>
          <a:solidFill>
            <a:srgbClr val="4F46E5">
              <a:alpha val="9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938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07008" y="19385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mTLS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07008" y="22402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Criptografia bidirecional entre serviços. Ambos os lados precisam se autenticar.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828800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1938528"/>
            <a:ext cx="640080" cy="640080"/>
          </a:xfrm>
          <a:prstGeom prst="ellipse">
            <a:avLst/>
          </a:prstGeom>
          <a:solidFill>
            <a:srgbClr val="0F52BA">
              <a:alpha val="90000"/>
            </a:srgbClr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1938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🎫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58968" y="19385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JWT Tokens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58968" y="22402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Tokens assinados carregam permissões. Validados localmente sem consultar servidor central.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" y="3355848"/>
            <a:ext cx="640080" cy="640080"/>
          </a:xfrm>
          <a:prstGeom prst="ellipse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355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07008" y="33558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OAuth 2.0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07008" y="36576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Delegação de autorização. Padrão para autenticação com provedores externos.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3246120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27448" y="3355848"/>
            <a:ext cx="640080" cy="640080"/>
          </a:xfrm>
          <a:prstGeom prst="ellipse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3355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58968" y="33558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Service Mesh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58968" y="36576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Istio / Envoy gerenciam mTLS automaticamente entre todos os pods.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52BA"/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D4F0"/>
                </a:solidFill>
              </a:rPr>
              <a:t>Os 3 Pilares — Saber O QUE está acontecendo e POR QUÊ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2743200" cy="54864"/>
          </a:xfrm>
          <a:prstGeom prst="rect">
            <a:avLst/>
          </a:prstGeom>
          <a:solidFill>
            <a:srgbClr val="0F52BA"/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115568"/>
            <a:ext cx="731520" cy="731520"/>
          </a:xfrm>
          <a:prstGeom prst="ellipse">
            <a:avLst/>
          </a:prstGeom>
          <a:solidFill>
            <a:srgbClr val="0F52BA"/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9768" y="196596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Logs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768" y="237744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Registros discretos e estruturados de eventos do sistema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063240"/>
            <a:ext cx="21945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54680"/>
            <a:ext cx="2468880" cy="274320"/>
          </a:xfrm>
          <a:prstGeom prst="roundRect">
            <a:avLst>
              <a:gd name="adj" fmla="val 16667"/>
            </a:avLst>
          </a:prstGeom>
          <a:solidFill>
            <a:srgbClr val="0F52BA">
              <a:alpha val="20000"/>
            </a:srgbClr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54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2BA"/>
                </a:solidFill>
              </a:rPr>
              <a:t>ELK Stack · OpenSearch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566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JSON estruturado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8587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Centralizado (não no container)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1513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Correlacionado por Trace 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100584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0" y="1115568"/>
            <a:ext cx="731520" cy="7315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310128" y="196596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Métricas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10128" y="237744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Dados numéricos de série temporal sobre o comportamento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0" y="3063240"/>
            <a:ext cx="21945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3154680"/>
            <a:ext cx="2468880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154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Prometheus · Grafana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3566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CPU, memória, latência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38587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SLI / SLO / SLA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41513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Alertas automáticos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100584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1005840"/>
            <a:ext cx="27432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86600" y="1115568"/>
            <a:ext cx="731520" cy="7315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86600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190488" y="196596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Rastreamento Distribuído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190488" y="237744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Acompanha uma requisição por TODOS os serviços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55080" y="3063240"/>
            <a:ext cx="21945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3154680"/>
            <a:ext cx="2468880" cy="274320"/>
          </a:xfrm>
          <a:prstGeom prst="roundRect">
            <a:avLst>
              <a:gd name="adj" fmla="val 16667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3154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Jaeger · OpenTelemetry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63640" y="3566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Trace ID único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63640" y="38587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Spans por serviço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63640" y="41513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▸  Visualiza gargalos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Reais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D4F0"/>
                </a:solidFill>
              </a:rPr>
              <a:t>Netflix e Uber: como gigantes usam microserviços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069080" cy="3749040"/>
          </a:xfrm>
          <a:prstGeom prst="rect">
            <a:avLst/>
          </a:prstGeom>
          <a:solidFill>
            <a:srgbClr val="0D2040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0690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📺  NETFLIX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→  Migração completa para AWS em 2009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→  Centenas de microserviços independentes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→  Chaos Engineering: Simian Army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→  Chaos Monkey derruba instâncias em produção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→  Circuit Breakers em todos os serviços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9776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→  Lição: construir resiliência desde o início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4069080" cy="3749040"/>
          </a:xfrm>
          <a:prstGeom prst="rect">
            <a:avLst/>
          </a:prstGeom>
          <a:solidFill>
            <a:srgbClr val="0D204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05840"/>
            <a:ext cx="40690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🚗  UBER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16916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→  Começou como monolito em MySQL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148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→  Escalou para +5.000 microserviços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6060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→  Go e Java como linguagens principais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0632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→  Problema: 100k hosts → exaustão de conexões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520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→  Solução: Subsetting inteligente de rede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39776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→  Lição: arquitetura plana não escala além de 500 serviços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52BA"/>
          </a:solidFill>
          <a:ln w="12700">
            <a:solidFill>
              <a:srgbClr val="0F52B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Antipadrões — O que NÃO fazer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D4F0"/>
                </a:solidFill>
              </a:rPr>
              <a:t>Erros comuns que destroem os benefícios dos microserviços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743200" cy="1645920"/>
          </a:xfrm>
          <a:prstGeom prst="rect">
            <a:avLst/>
          </a:prstGeom>
          <a:solidFill>
            <a:srgbClr val="FFF7F7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64008" cy="1645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1612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✗  Monolito Distribuído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554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Serviços separados mas fortemente acoplados. Pior dos dois mundos.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743200" cy="1645920"/>
          </a:xfrm>
          <a:prstGeom prst="rect">
            <a:avLst/>
          </a:prstGeom>
          <a:solidFill>
            <a:srgbClr val="FFF7F7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51560"/>
            <a:ext cx="64008" cy="1645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1612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✗  Over-Microservices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64992" y="1554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Serviços pequenos demais. Uma tela dispara 100 chamadas simultâneas.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051560"/>
            <a:ext cx="2743200" cy="1645920"/>
          </a:xfrm>
          <a:prstGeom prst="rect">
            <a:avLst/>
          </a:prstGeom>
          <a:solidFill>
            <a:srgbClr val="FFF7F7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051560"/>
            <a:ext cx="64008" cy="1645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1612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✗  Shared Database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5352" y="1554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Múltiplos serviços escrevendo na mesma tabela. Viola o isolamento.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834640"/>
            <a:ext cx="2743200" cy="1645920"/>
          </a:xfrm>
          <a:prstGeom prst="rect">
            <a:avLst/>
          </a:prstGeom>
          <a:solidFill>
            <a:srgbClr val="FFF7F7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34640"/>
            <a:ext cx="64008" cy="1645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29443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✗  Spaghetti Architecture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" y="3337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Todos chamam todos diretamente. Caos de dependências circulares.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2834640"/>
            <a:ext cx="2743200" cy="1645920"/>
          </a:xfrm>
          <a:prstGeom prst="rect">
            <a:avLst/>
          </a:prstGeom>
          <a:solidFill>
            <a:srgbClr val="FFF7F7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834640"/>
            <a:ext cx="64008" cy="1645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29443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✗  God Service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64992" y="3337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Um serviço que faz tudo. É um monolito disfarçado.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2834640"/>
            <a:ext cx="2743200" cy="1645920"/>
          </a:xfrm>
          <a:prstGeom prst="rect">
            <a:avLst/>
          </a:prstGeom>
          <a:solidFill>
            <a:srgbClr val="FFF7F7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2834640"/>
            <a:ext cx="64008" cy="1645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45352" y="29443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✗  Sem Observabilidade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45352" y="3337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50 serviços sem logs/tracing. Impossível debugar em produção.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617720"/>
            <a:ext cx="8503920" cy="320040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⚠️  Para equipes &lt; 10 devs: considere Monolito Modular primeiro. Microserviços têm custo operacional alto.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Prática — Spring Boot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303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D4F0"/>
                </a:solidFill>
              </a:rPr>
              <a:t>Mini e-commerce com 3 microsserviços + Frontend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0" y="1051560"/>
            <a:ext cx="2194560" cy="777240"/>
          </a:xfrm>
          <a:prstGeom prst="rect">
            <a:avLst/>
          </a:prstGeom>
          <a:solidFill>
            <a:srgbClr val="00D4FF">
              <a:alpha val="90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0515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Frontend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Thymeleaf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0" y="2148840"/>
            <a:ext cx="2194560" cy="777240"/>
          </a:xfrm>
          <a:prstGeom prst="rect">
            <a:avLst/>
          </a:prstGeom>
          <a:solidFill>
            <a:srgbClr val="0F52BA">
              <a:alpha val="90000"/>
            </a:srgbClr>
          </a:solidFill>
          <a:ln w="19050">
            <a:solidFill>
              <a:srgbClr val="0F52B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21488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API Gateway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:8080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2286000" cy="777240"/>
          </a:xfrm>
          <a:prstGeom prst="rect">
            <a:avLst/>
          </a:prstGeom>
          <a:solidFill>
            <a:srgbClr val="10B981">
              <a:alpha val="90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2461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Serviço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Produtos :8081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0" y="3246120"/>
            <a:ext cx="2194560" cy="777240"/>
          </a:xfrm>
          <a:prstGeom prst="rect">
            <a:avLst/>
          </a:prstGeom>
          <a:solidFill>
            <a:srgbClr val="F59E0B">
              <a:alpha val="90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32461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Serviço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Pedidos :8082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92240" y="3246120"/>
            <a:ext cx="2194560" cy="777240"/>
          </a:xfrm>
          <a:prstGeom prst="rect">
            <a:avLst/>
          </a:prstGeom>
          <a:solidFill>
            <a:srgbClr val="8B5CF6">
              <a:alpha val="90000"/>
            </a:srgbClr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32461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Serviço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Usuários :8083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343400"/>
            <a:ext cx="2286000" cy="777240"/>
          </a:xfrm>
          <a:prstGeom prst="rect">
            <a:avLst/>
          </a:prstGeom>
          <a:solidFill>
            <a:srgbClr val="475569">
              <a:alpha val="90000"/>
            </a:srgbClr>
          </a:solidFill>
          <a:ln w="190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43434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H2 DB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0" y="4343400"/>
            <a:ext cx="2194560" cy="777240"/>
          </a:xfrm>
          <a:prstGeom prst="rect">
            <a:avLst/>
          </a:prstGeom>
          <a:solidFill>
            <a:srgbClr val="475569">
              <a:alpha val="90000"/>
            </a:srgbClr>
          </a:solidFill>
          <a:ln w="190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0" y="43434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H2 DB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92240" y="4343400"/>
            <a:ext cx="2194560" cy="777240"/>
          </a:xfrm>
          <a:prstGeom prst="rect">
            <a:avLst/>
          </a:prstGeom>
          <a:solidFill>
            <a:srgbClr val="475569">
              <a:alpha val="90000"/>
            </a:srgbClr>
          </a:solidFill>
          <a:ln w="190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43434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H2 DB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1828800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3749040" y="2926080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4572000" y="2926080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7589520" y="2926080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600200" y="4023360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4572000" y="4023360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7589520" y="4023360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320040" y="1051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Stack Utilizada: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" y="13716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</a:rPr>
              <a:t>▸ Spring Boot 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0040" y="16459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</a:rPr>
              <a:t>▸ Spring Web MVC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" y="19202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</a:rPr>
              <a:t>▸ Thymeleaf (frontend)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" y="21945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</a:rPr>
              <a:t>▸ H2 Database (embutido)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24688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</a:rPr>
              <a:t>▸ RestTemplate (comunicação)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040" y="27432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</a:rPr>
              <a:t>▸ Spring Boot Admin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F52BA">
              <a:alpha val="20000"/>
            </a:srgbClr>
          </a:solidFill>
          <a:ln w="12700">
            <a:solidFill>
              <a:srgbClr val="0F52B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743200" cy="2560320"/>
          </a:xfrm>
          <a:prstGeom prst="rect">
            <a:avLst/>
          </a:prstGeom>
          <a:solidFill>
            <a:srgbClr val="0D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743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 quando necessário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Microserviços resolvem problemas de escala real. Não adote por modismo.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743200" cy="2560320"/>
          </a:xfrm>
          <a:prstGeom prst="rect">
            <a:avLst/>
          </a:prstGeom>
          <a:solidFill>
            <a:srgbClr val="0D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88720"/>
            <a:ext cx="2743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325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🏗️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83280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Monolito Modular primeiro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377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Para times pequenos, comece organizado e extraia serviços quando necessário.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743200" cy="2560320"/>
          </a:xfrm>
          <a:prstGeom prst="rect">
            <a:avLst/>
          </a:prstGeom>
          <a:solidFill>
            <a:srgbClr val="0D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88720"/>
            <a:ext cx="2743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325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63640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Invista em Observabilidade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2377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Sem logs, métricas e tracing distribuído, microsserviços viram pesadelo.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0D204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776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D4FF"/>
                </a:solidFill>
              </a:rPr>
              <a:t>"A arquitetura de microserviços não é uma bala de prata — é uma ferramenta poderosa que exige maturidade para ser bem utilizada."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Obrigado! Dúvidas?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Arquitetura de Microserviços</dc:title>
  <dc:subject>PptxGenJS Presentation</dc:subject>
  <dc:creator>PptxGenJS</dc:creator>
  <cp:lastModifiedBy>PptxGenJS</cp:lastModifiedBy>
  <cp:revision>1</cp:revision>
  <dcterms:created xsi:type="dcterms:W3CDTF">2026-04-15T22:50:00Z</dcterms:created>
  <dcterms:modified xsi:type="dcterms:W3CDTF">2026-04-15T22:50:00Z</dcterms:modified>
</cp:coreProperties>
</file>