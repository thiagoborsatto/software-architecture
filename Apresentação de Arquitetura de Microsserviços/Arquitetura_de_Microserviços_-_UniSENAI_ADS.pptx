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HdSS6c9TAec8NiQo9xE3G+ny6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Inter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bold.fntdata"/><Relationship Id="rId6" Type="http://schemas.openxmlformats.org/officeDocument/2006/relationships/slide" Target="slides/slide2.xml"/><Relationship Id="rId18" Type="http://schemas.openxmlformats.org/officeDocument/2006/relationships/font" Target="fonts/Inte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9.jp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10" Type="http://schemas.openxmlformats.org/officeDocument/2006/relationships/image" Target="../media/image3.png"/><Relationship Id="rId9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8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jp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27.png"/><Relationship Id="rId7" Type="http://schemas.openxmlformats.org/officeDocument/2006/relationships/image" Target="../media/image38.png"/><Relationship Id="rId8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42.png"/><Relationship Id="rId9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46.png"/><Relationship Id="rId8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jpg"/><Relationship Id="rId4" Type="http://schemas.openxmlformats.org/officeDocument/2006/relationships/image" Target="../media/image51.png"/><Relationship Id="rId5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85750" y="916102"/>
            <a:ext cx="5580692" cy="113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11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731"/>
              <a:buFont typeface="Inter"/>
              <a:buNone/>
            </a:pPr>
            <a:r>
              <a:rPr b="1" i="0" lang="en-US" sz="3731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Arquitetura de</a:t>
            </a:r>
            <a:br>
              <a:rPr b="1" i="0" lang="en-US" sz="3731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3731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Microserviços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85750" y="2419136"/>
            <a:ext cx="5580692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4"/>
              <a:buFont typeface="Inter"/>
              <a:buNone/>
            </a:pPr>
            <a:r>
              <a:rPr b="0" i="0" lang="en-US" sz="170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Padrões de Arquitetura de Software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85750" y="3196019"/>
            <a:ext cx="118407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UniSENAI — ADS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85750" y="3512130"/>
            <a:ext cx="558069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Data: 22 de Abril de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152192" y="0"/>
            <a:ext cx="2991808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152192" y="0"/>
            <a:ext cx="28575" cy="514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457950" y="1776059"/>
            <a:ext cx="2400300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57950" y="2161822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457950" y="216182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772275" y="2198433"/>
            <a:ext cx="123408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Conceito e Histórico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57950" y="2504722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457950" y="250472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772275" y="2541333"/>
            <a:ext cx="124122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Princípios e Padrões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57950" y="2847622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457950" y="284762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772275" y="2884233"/>
            <a:ext cx="178772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Segurança e Observabilidade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457950" y="3190522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457950" y="319052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772275" y="3227133"/>
            <a:ext cx="156269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Demo Prática Spring Boot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 Que São Microserviços?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14388" y="1529879"/>
            <a:ext cx="3328988" cy="109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36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69"/>
              <a:buFont typeface="Inter"/>
              <a:buNone/>
            </a:pPr>
            <a:r>
              <a:rPr b="0" i="1" lang="en-US" sz="126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"Aplicação desenvolvida como conjunto de pequenos serviços independentes, cada um com seu próprio processo, comunicando-se por APIs leves."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14388" y="2769989"/>
            <a:ext cx="332898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— Martin Fowler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9342"/>
            <a:ext cx="2857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000125" y="3300413"/>
            <a:ext cx="1478756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Serviços Pequenos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77245"/>
            <a:ext cx="2857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1000125" y="3668316"/>
            <a:ext cx="114835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Independentes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5148"/>
            <a:ext cx="2857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000125" y="4036219"/>
            <a:ext cx="163056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Comunicação via API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79106" y="1358429"/>
            <a:ext cx="4300538" cy="2871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Evolução Histórica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00100" y="1358429"/>
            <a:ext cx="142875" cy="142875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171575" y="1358429"/>
            <a:ext cx="71151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1960–70s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171575" y="1658466"/>
            <a:ext cx="71151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Mainframes Monolíticos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171575" y="1901354"/>
            <a:ext cx="71151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Tudo junto, não escalável e centralizado.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00100" y="2160315"/>
            <a:ext cx="142875" cy="142875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171575" y="2160315"/>
            <a:ext cx="71151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1980–90s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171575" y="2460352"/>
            <a:ext cx="71151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RPC / CORBA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71575" y="2703240"/>
            <a:ext cx="71151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Primeira tentativa distribuída, falhou por alta latência.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00100" y="2962201"/>
            <a:ext cx="142875" cy="142875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171575" y="2962201"/>
            <a:ext cx="71151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2000s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71575" y="3262238"/>
            <a:ext cx="71151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SOA / ESB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171575" y="3505126"/>
            <a:ext cx="71151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Arquitetura Orientada a Serviços, mas o ESB virou gargalo.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00100" y="3764087"/>
            <a:ext cx="142875" cy="142875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171575" y="3764087"/>
            <a:ext cx="71151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2010+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171575" y="4064124"/>
            <a:ext cx="71151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Microserviços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171575" y="4307012"/>
            <a:ext cx="71151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Cloud, Docker, Kubernetes e Agilidade de Negócio.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57250" y="4565972"/>
            <a:ext cx="7429500" cy="43576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57250" y="4565972"/>
            <a:ext cx="57150" cy="43576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57250" y="4565972"/>
            <a:ext cx="7429500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136000" spcFirstLastPara="1" rIns="136000" wrap="square" tIns="13600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Microserviços surgiram por necessidade real de escala, não por modismo.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Comparativo Técnico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71500" y="1501304"/>
            <a:ext cx="8001000" cy="321825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571500" y="1501304"/>
            <a:ext cx="2143125" cy="53399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71500" y="2028155"/>
            <a:ext cx="2143125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71500" y="1501304"/>
            <a:ext cx="2143125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CARACTERÍSTICA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14625" y="1501304"/>
            <a:ext cx="1602098" cy="53399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2714625" y="2028155"/>
            <a:ext cx="1602098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714625" y="1501304"/>
            <a:ext cx="1602098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MONOLITO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316723" y="1501304"/>
            <a:ext cx="2073697" cy="53399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316723" y="2028155"/>
            <a:ext cx="2073697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316723" y="1501304"/>
            <a:ext cx="2073697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SOA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390419" y="1501304"/>
            <a:ext cx="2174937" cy="533995"/>
          </a:xfrm>
          <a:prstGeom prst="rect">
            <a:avLst/>
          </a:prstGeom>
          <a:solidFill>
            <a:srgbClr val="38BDF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8551069" y="1501304"/>
            <a:ext cx="14288" cy="53399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390419" y="2028155"/>
            <a:ext cx="2174937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390419" y="1501304"/>
            <a:ext cx="14288" cy="53399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390419" y="1501304"/>
            <a:ext cx="2174937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MICROSERVIÇOS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71500" y="2031727"/>
            <a:ext cx="2143125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Escalabilidade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714625" y="2031727"/>
            <a:ext cx="1602098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App inteira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316723" y="2031727"/>
            <a:ext cx="2073697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Por serviço (c/ ESB)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390419" y="2031727"/>
            <a:ext cx="2174937" cy="533995"/>
          </a:xfrm>
          <a:prstGeom prst="rect">
            <a:avLst/>
          </a:prstGeom>
          <a:solidFill>
            <a:srgbClr val="38BDF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551069" y="2031727"/>
            <a:ext cx="14288" cy="53399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390419" y="2558579"/>
            <a:ext cx="2174937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390419" y="2031727"/>
            <a:ext cx="14288" cy="53399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390419" y="2031727"/>
            <a:ext cx="2174937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Granular por serviço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71500" y="2565722"/>
            <a:ext cx="2143125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Isolamento de falhas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714625" y="2565722"/>
            <a:ext cx="1609213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Baixo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323838" y="2565722"/>
            <a:ext cx="2074227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Moderado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398065" y="2565722"/>
            <a:ext cx="2167291" cy="537567"/>
          </a:xfrm>
          <a:prstGeom prst="rect">
            <a:avLst/>
          </a:prstGeom>
          <a:solidFill>
            <a:srgbClr val="38BDF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8551069" y="2565722"/>
            <a:ext cx="14288" cy="53756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398065" y="3096146"/>
            <a:ext cx="216729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398065" y="2565722"/>
            <a:ext cx="14288" cy="53756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398065" y="2565722"/>
            <a:ext cx="2167291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Alto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71500" y="3103290"/>
            <a:ext cx="2143125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Tecnologias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714625" y="3103290"/>
            <a:ext cx="1609213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Homogênea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323838" y="3103290"/>
            <a:ext cx="2074227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Limitada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398065" y="3103290"/>
            <a:ext cx="2167291" cy="537567"/>
          </a:xfrm>
          <a:prstGeom prst="rect">
            <a:avLst/>
          </a:prstGeom>
          <a:solidFill>
            <a:srgbClr val="38BDF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8551069" y="3103290"/>
            <a:ext cx="14288" cy="53756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398065" y="3633713"/>
            <a:ext cx="216729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398065" y="3103290"/>
            <a:ext cx="14288" cy="53756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398065" y="3103290"/>
            <a:ext cx="2167291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Poliglota (livre)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71500" y="3640857"/>
            <a:ext cx="2143125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Complexidade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714625" y="3640857"/>
            <a:ext cx="1609213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Baixa no início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323838" y="3640857"/>
            <a:ext cx="2074227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Moderada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398065" y="3640857"/>
            <a:ext cx="2167291" cy="537567"/>
          </a:xfrm>
          <a:prstGeom prst="rect">
            <a:avLst/>
          </a:prstGeom>
          <a:solidFill>
            <a:srgbClr val="38BDF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8551069" y="3640857"/>
            <a:ext cx="14288" cy="53756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398065" y="4171280"/>
            <a:ext cx="216729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398065" y="3640857"/>
            <a:ext cx="14288" cy="53756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6398065" y="3640857"/>
            <a:ext cx="2167291" cy="53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Alta desde o dia 1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71500" y="4178424"/>
            <a:ext cx="2143125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Deploy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714625" y="4178424"/>
            <a:ext cx="1609213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App inteira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323838" y="4178424"/>
            <a:ext cx="2074227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Por serviço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398065" y="4178424"/>
            <a:ext cx="2167291" cy="533995"/>
          </a:xfrm>
          <a:prstGeom prst="rect">
            <a:avLst/>
          </a:prstGeom>
          <a:solidFill>
            <a:srgbClr val="38BDF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8551069" y="4178424"/>
            <a:ext cx="14288" cy="53399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398065" y="4178424"/>
            <a:ext cx="14288" cy="53399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398065" y="4178424"/>
            <a:ext cx="2167291" cy="533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2575" lIns="212575" spcFirstLastPara="1" rIns="212575" wrap="square" tIns="212575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Independente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6 Princípios Fundamentais de Design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71500" y="1358429"/>
            <a:ext cx="2571750" cy="176461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71500" y="1358429"/>
            <a:ext cx="257175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700088" y="1608516"/>
            <a:ext cx="192881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00125" y="1617445"/>
            <a:ext cx="140196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Componentização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00088" y="2065772"/>
            <a:ext cx="23145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Serviços como processos isolados com API bem definida, permitindo substituição e evolução independente.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286125" y="1358429"/>
            <a:ext cx="2571750" cy="176104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3286125" y="1358429"/>
            <a:ext cx="257175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414713" y="1703170"/>
            <a:ext cx="22681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748683" y="1617445"/>
            <a:ext cx="1980605" cy="378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Orientado a Domínio (DDD)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414713" y="2255081"/>
            <a:ext cx="231457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Cada serviço é modelado em torno de uma capacidade de negócio específica (Bounded Context).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000750" y="1358429"/>
            <a:ext cx="2571750" cy="173604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6000750" y="1358429"/>
            <a:ext cx="257175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6129338" y="1608516"/>
            <a:ext cx="230386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466880" y="1617445"/>
            <a:ext cx="171092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Endpoints Inteligentes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129338" y="2065772"/>
            <a:ext cx="231457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Lógica reside nos serviços; a rede deve ser simples e "burra", evitando o uso de ESBs complexos.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71500" y="3237347"/>
            <a:ext cx="2571750" cy="176104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71500" y="3237347"/>
            <a:ext cx="257175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700088" y="3582088"/>
            <a:ext cx="23574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042988" y="3496363"/>
            <a:ext cx="1971675" cy="378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Governança Descentralizada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00088" y="4133999"/>
            <a:ext cx="231457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Liberdade para cada equipe escolher a stack tecnológica (linguagem, banco) mais adequada ao problema.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286125" y="3237347"/>
            <a:ext cx="2571750" cy="173247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3286125" y="3237347"/>
            <a:ext cx="257175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3414713" y="3487434"/>
            <a:ext cx="22681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748683" y="3496363"/>
            <a:ext cx="186273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Dados Descentralizados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414713" y="3944689"/>
            <a:ext cx="231457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 banco de dados por serviço. Evita o acoplamento por esquema de dados compartilhado.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000750" y="3237347"/>
            <a:ext cx="2571750" cy="173247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000750" y="3237347"/>
            <a:ext cx="257175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6129338" y="3487434"/>
            <a:ext cx="232172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468666" y="3496363"/>
            <a:ext cx="145732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Design para Falhas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129338" y="3944689"/>
            <a:ext cx="231457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Sistemas distribuídos falham. Todo serviço deve ser resiliente e esperar que suas dependências falhem.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Padrões Arquiteturais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6991"/>
            <a:ext cx="285750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857250" y="1286991"/>
            <a:ext cx="2978944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API Gateway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857250" y="1504876"/>
            <a:ext cx="2978944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Entrada única, roteamento, autenticação e rate limiting.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07759"/>
            <a:ext cx="285750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/>
          <p:nvPr/>
        </p:nvSpPr>
        <p:spPr>
          <a:xfrm>
            <a:off x="857250" y="1807759"/>
            <a:ext cx="327898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Circuit Breaker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57250" y="2025644"/>
            <a:ext cx="327898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Evita cascata de falhas (estados: fechado/aberto/half-open).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28528"/>
            <a:ext cx="285750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857250" y="2328528"/>
            <a:ext cx="295394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Service Discovery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57250" y="2546412"/>
            <a:ext cx="295394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Lista telefônica dinâmica para localização de serviços.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849296"/>
            <a:ext cx="285750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857250" y="2849296"/>
            <a:ext cx="3127177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SAGA Pattern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57250" y="3067180"/>
            <a:ext cx="3127177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Gerenciamento de transações distribuídas e consistência.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70064"/>
            <a:ext cx="285750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857250" y="3370064"/>
            <a:ext cx="2827139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Strangler Fig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57250" y="3587948"/>
            <a:ext cx="282713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Migração gradual do monolito sem interrupção total.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90832"/>
            <a:ext cx="285750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857250" y="3890832"/>
            <a:ext cx="311110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Bulkhead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857250" y="4108717"/>
            <a:ext cx="311110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Isolamento de recursos para evitar propagação de falhas.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36294" y="1286991"/>
            <a:ext cx="394335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>
            <a:off x="5127427" y="3901604"/>
            <a:ext cx="29610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50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Exemplo de implementação de API Gateway em Microserviços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8" name="Google Shape;2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Consistência de Dados e SAGA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71500" y="1358429"/>
            <a:ext cx="3857625" cy="2521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71500" y="1358429"/>
            <a:ext cx="3857625" cy="4286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3" y="159417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1092994" y="1572741"/>
            <a:ext cx="1139428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3" y="2029941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942975" y="1994222"/>
            <a:ext cx="32718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ACID não funciona em sistemas distribuídos (CAP Theorem).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3" y="2572866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>
            <a:off x="942975" y="2537147"/>
            <a:ext cx="32718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Two-Phase Commit (2PC) gera deadlocks e baixa performance.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3" y="3115791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942975" y="3080072"/>
            <a:ext cx="32718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Falhas de rede podem interromper transações no meio.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714875" y="1358429"/>
            <a:ext cx="3857625" cy="247888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4714875" y="1358429"/>
            <a:ext cx="3857625" cy="4286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9188" y="159417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/>
          <p:nvPr/>
        </p:nvSpPr>
        <p:spPr>
          <a:xfrm>
            <a:off x="5236369" y="1572741"/>
            <a:ext cx="1337667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SAGA Pattern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929188" y="1994222"/>
            <a:ext cx="102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Coreografia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957888" y="1994222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Eventos (Kafka), desacoplado, difícil de debugar.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929188" y="2451422"/>
            <a:ext cx="1028700" cy="460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Orquestração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957888" y="2451422"/>
            <a:ext cx="2400300" cy="460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Centralizado (Camunda), fácil de gerenciar e debugar.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71500" y="4123060"/>
            <a:ext cx="8001000" cy="9286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71500" y="4123060"/>
            <a:ext cx="42863" cy="9286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750094" y="4301654"/>
            <a:ext cx="764381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Consistência Eventual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50094" y="4562401"/>
            <a:ext cx="7643813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Em vez de travar o sistema, os dados convergem para o estado correto de forma assíncrona através de transações compensatórias.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7" name="Google Shape;2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Segurança e Zero Trust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71500" y="1244129"/>
            <a:ext cx="85725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69"/>
              <a:buFont typeface="Inter"/>
              <a:buNone/>
            </a:pPr>
            <a:r>
              <a:rPr b="0" i="1" lang="en-US" sz="126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"Nunca confie, sempre verifique — mesmo dentro da rede interna"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71500" y="1594172"/>
            <a:ext cx="1943100" cy="104365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571500" y="1594172"/>
            <a:ext cx="28575" cy="104365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" y="1708472"/>
            <a:ext cx="17502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/>
          <p:nvPr/>
        </p:nvSpPr>
        <p:spPr>
          <a:xfrm>
            <a:off x="917972" y="1679897"/>
            <a:ext cx="151090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mTLS (Mutual TLS)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917972" y="1912069"/>
            <a:ext cx="1510903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Criptografia bidirecional onde ambos os lados autenticam com certificados digitais.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2628900" y="1594172"/>
            <a:ext cx="1943100" cy="104365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2628900" y="1594172"/>
            <a:ext cx="28575" cy="1043657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4625" y="1708472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/>
          <p:nvPr/>
        </p:nvSpPr>
        <p:spPr>
          <a:xfrm>
            <a:off x="3025378" y="1679897"/>
            <a:ext cx="1460897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JWT Token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025378" y="1912069"/>
            <a:ext cx="1460897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Tokens assinados que carregam permissões e são validados localmente em cada serviço.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71500" y="2737842"/>
            <a:ext cx="1943100" cy="8836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71500" y="2737842"/>
            <a:ext cx="28575" cy="8836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" y="285214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/>
          <p:nvPr/>
        </p:nvSpPr>
        <p:spPr>
          <a:xfrm>
            <a:off x="942975" y="2823567"/>
            <a:ext cx="148590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OAuth 2.0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942975" y="3055739"/>
            <a:ext cx="1485900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Padrão de mercado para delegação de autorização com provedores externos.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2628900" y="2737842"/>
            <a:ext cx="1943100" cy="8836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2628900" y="2737842"/>
            <a:ext cx="28575" cy="8836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2909739" y="2823567"/>
            <a:ext cx="1576536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Service Mesh (Istio)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2909739" y="3055739"/>
            <a:ext cx="1576536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Gerenciamento automático de mTLS e políticas de segurança entre os pods.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00638" y="1686288"/>
            <a:ext cx="3014663" cy="1871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5" name="Google Shape;2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3255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9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Observabilidade: Os 3 Pilares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71500" y="1286991"/>
            <a:ext cx="2571750" cy="193816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571500" y="1286991"/>
            <a:ext cx="257175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465585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714375" y="1915055"/>
            <a:ext cx="22860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LOGS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000125" y="2236524"/>
            <a:ext cx="2000250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Registros discretos com timestamp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000125" y="2659400"/>
            <a:ext cx="200025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Centralizados (não no container)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000125" y="2899414"/>
            <a:ext cx="200025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ELK Stack, OpenSearch, Loki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286125" y="1286991"/>
            <a:ext cx="2571750" cy="190958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3286125" y="1286991"/>
            <a:ext cx="257175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9000" y="1465585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/>
          <p:nvPr/>
        </p:nvSpPr>
        <p:spPr>
          <a:xfrm>
            <a:off x="3429000" y="1915055"/>
            <a:ext cx="22860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MÉTRICAS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3714750" y="2236524"/>
            <a:ext cx="200025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Dados numéricos temporais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3714750" y="2476537"/>
            <a:ext cx="200025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CPU, Latência, Taxa de Erros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714750" y="2716550"/>
            <a:ext cx="200025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Prometheus + Grafana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000750" y="1286991"/>
            <a:ext cx="2571750" cy="190958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6000750" y="1286991"/>
            <a:ext cx="257175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3625" y="1465585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/>
          <p:nvPr/>
        </p:nvSpPr>
        <p:spPr>
          <a:xfrm>
            <a:off x="6143625" y="1915055"/>
            <a:ext cx="22860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TRACING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429375" y="2236524"/>
            <a:ext cx="200025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Trace ID único por requisição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429375" y="2476537"/>
            <a:ext cx="200025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Rastreia fluxo entre serviços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429375" y="2716550"/>
            <a:ext cx="2000250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Jaeger, OpenTelemetry (OTel)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7356" y="3339452"/>
            <a:ext cx="5729288" cy="172878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/>
          <p:nvPr/>
        </p:nvSpPr>
        <p:spPr>
          <a:xfrm>
            <a:off x="3278981" y="5068239"/>
            <a:ext cx="2586038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Visualização de Métricas em Tempo Real com Grafana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5" name="Google Shape;2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0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Casos Reais: Netflix e Uber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28625" y="1286991"/>
            <a:ext cx="4000500" cy="370071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428625" y="1286991"/>
            <a:ext cx="4000500" cy="42863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642938" y="1524437"/>
            <a:ext cx="35718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E50914"/>
                </a:solidFill>
                <a:latin typeface="Inter"/>
                <a:ea typeface="Inter"/>
                <a:cs typeface="Inter"/>
                <a:sym typeface="Inter"/>
              </a:rPr>
              <a:t>NETFLIX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1853050"/>
            <a:ext cx="28575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3138925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0"/>
          <p:cNvSpPr/>
          <p:nvPr/>
        </p:nvSpPr>
        <p:spPr>
          <a:xfrm>
            <a:off x="828675" y="3110350"/>
            <a:ext cx="2909292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Migração completa para AWS iniciada em 2009.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3" name="Google Shape;30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3376092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/>
          <p:nvPr/>
        </p:nvSpPr>
        <p:spPr>
          <a:xfrm>
            <a:off x="828675" y="3347517"/>
            <a:ext cx="2887861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Criadores da Chaos Engineering (Simian Army).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8" y="3613259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/>
          <p:nvPr/>
        </p:nvSpPr>
        <p:spPr>
          <a:xfrm>
            <a:off x="828675" y="3584684"/>
            <a:ext cx="2980730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Chaos Monkey: derruba instâncias em produção.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7" name="Google Shape;30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8" y="3850425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"/>
          <p:cNvSpPr/>
          <p:nvPr/>
        </p:nvSpPr>
        <p:spPr>
          <a:xfrm>
            <a:off x="828675" y="3821850"/>
            <a:ext cx="2789634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Chaos Gorilla: simula queda de zonas inteiras.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642938" y="4394774"/>
            <a:ext cx="3571875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LIÇÃO APRENDIDA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642938" y="4660878"/>
            <a:ext cx="35718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1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Construir resiliência proativa desde o primeiro dia.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4714875" y="1286991"/>
            <a:ext cx="4000500" cy="370071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4714875" y="1286991"/>
            <a:ext cx="4000500" cy="42863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4929188" y="1524437"/>
            <a:ext cx="35718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UBER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86375" y="1853050"/>
            <a:ext cx="28575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188" y="3138925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"/>
          <p:cNvSpPr/>
          <p:nvPr/>
        </p:nvSpPr>
        <p:spPr>
          <a:xfrm>
            <a:off x="5114925" y="3110350"/>
            <a:ext cx="3139678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Evolução de monolito MySQL para +5.000 serviços.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7" name="Google Shape;3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188" y="3376092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0"/>
          <p:cNvSpPr/>
          <p:nvPr/>
        </p:nvSpPr>
        <p:spPr>
          <a:xfrm>
            <a:off x="5114925" y="3347517"/>
            <a:ext cx="3082528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Problema: Exaustão de conexões no service mesh.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9" name="Google Shape;31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9188" y="3613259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0"/>
          <p:cNvSpPr/>
          <p:nvPr/>
        </p:nvSpPr>
        <p:spPr>
          <a:xfrm>
            <a:off x="5114925" y="3584684"/>
            <a:ext cx="2950369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Solução: DOMA (Domain-Oriented Architecture).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1" name="Google Shape;32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9188" y="3850425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0"/>
          <p:cNvSpPr/>
          <p:nvPr/>
        </p:nvSpPr>
        <p:spPr>
          <a:xfrm>
            <a:off x="5114925" y="3821850"/>
            <a:ext cx="2575322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Organização em "Domínios" e "Camadas".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929188" y="4394774"/>
            <a:ext cx="3571875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LIÇÃO APRENDIDA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929188" y="4660878"/>
            <a:ext cx="35718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1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Arquiteturas planas falham em hiperescala.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0" name="Google Shape;3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Antipadrões: O Que Não Fazer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71500" y="1258416"/>
            <a:ext cx="2590781" cy="1317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571500" y="1258416"/>
            <a:ext cx="2590781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088" y="149778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"/>
          <p:cNvSpPr/>
          <p:nvPr/>
        </p:nvSpPr>
        <p:spPr>
          <a:xfrm>
            <a:off x="928688" y="1474570"/>
            <a:ext cx="1555552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Monolito Distribuído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700088" y="1915753"/>
            <a:ext cx="2333606" cy="5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3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8"/>
              <a:buFont typeface="Inter"/>
              <a:buNone/>
            </a:pPr>
            <a:r>
              <a:rPr b="0" i="0" lang="en-US" sz="888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Serviços separados fisicamente, mas com acoplamento lógico intenso e deploys dependentes.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3276581" y="1258416"/>
            <a:ext cx="2590809" cy="1317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3276581" y="1258416"/>
            <a:ext cx="2590809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69" y="149778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1"/>
          <p:cNvSpPr/>
          <p:nvPr/>
        </p:nvSpPr>
        <p:spPr>
          <a:xfrm>
            <a:off x="3633769" y="1474570"/>
            <a:ext cx="153412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Over-Microservices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3405169" y="1915753"/>
            <a:ext cx="2333634" cy="5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3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8"/>
              <a:buFont typeface="Inter"/>
              <a:buNone/>
            </a:pPr>
            <a:r>
              <a:rPr b="0" i="0" lang="en-US" sz="888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Granularidade extrema. Criar serviços demais para problemas simples, gerando latência excessiva.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981691" y="1258416"/>
            <a:ext cx="2590781" cy="1317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5981691" y="1258416"/>
            <a:ext cx="2590781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0278" y="149778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6338878" y="1474570"/>
            <a:ext cx="1307306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Shared Database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6110278" y="1915753"/>
            <a:ext cx="2333606" cy="5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3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8"/>
              <a:buFont typeface="Inter"/>
              <a:buNone/>
            </a:pPr>
            <a:r>
              <a:rPr b="0" i="0" lang="en-US" sz="888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Múltiplos serviços lendo e escrevendo na mesma tabela, quebrando o isolamento de dados.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71500" y="2661493"/>
            <a:ext cx="2590781" cy="1317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571500" y="2661493"/>
            <a:ext cx="2590781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0088" y="290086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1"/>
          <p:cNvSpPr/>
          <p:nvPr/>
        </p:nvSpPr>
        <p:spPr>
          <a:xfrm>
            <a:off x="928688" y="2877648"/>
            <a:ext cx="1741289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Spaghetti Architecture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700088" y="3318830"/>
            <a:ext cx="2333606" cy="5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3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8"/>
              <a:buFont typeface="Inter"/>
              <a:buNone/>
            </a:pPr>
            <a:r>
              <a:rPr b="0" i="0" lang="en-US" sz="888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Todos os serviços chamam todos sem critério, criando dependências circulares impossíveis de gerir.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3276581" y="2661493"/>
            <a:ext cx="2590809" cy="1317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3276581" y="2661493"/>
            <a:ext cx="2590809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05169" y="290086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1"/>
          <p:cNvSpPr/>
          <p:nvPr/>
        </p:nvSpPr>
        <p:spPr>
          <a:xfrm>
            <a:off x="3633769" y="2877648"/>
            <a:ext cx="93583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God Service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3405169" y="3318830"/>
            <a:ext cx="2333634" cy="5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3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8"/>
              <a:buFont typeface="Inter"/>
              <a:buNone/>
            </a:pPr>
            <a:r>
              <a:rPr b="0" i="0" lang="en-US" sz="888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 serviço que cresceu demais e centraliza toda a lógica (um monolito disfarçado de microserviço).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5981691" y="2661493"/>
            <a:ext cx="2590781" cy="1317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5981691" y="2661493"/>
            <a:ext cx="2590781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10278" y="290086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1"/>
          <p:cNvSpPr/>
          <p:nvPr/>
        </p:nvSpPr>
        <p:spPr>
          <a:xfrm>
            <a:off x="6338878" y="2877648"/>
            <a:ext cx="163413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Sem Observabilidade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110278" y="3318830"/>
            <a:ext cx="2333606" cy="5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3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8"/>
              <a:buFont typeface="Inter"/>
              <a:buNone/>
            </a:pPr>
            <a:r>
              <a:rPr b="0" i="0" lang="en-US" sz="888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Ter dezenas de serviços sem logs centralizados ou tracing. Impossível debugar falhas em produção.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571500" y="4093146"/>
            <a:ext cx="8001000" cy="446484"/>
          </a:xfrm>
          <a:prstGeom prst="rect">
            <a:avLst/>
          </a:prstGeom>
          <a:solidFill>
            <a:srgbClr val="EF4444">
              <a:alpha val="10196"/>
            </a:srgbClr>
          </a:solidFill>
          <a:ln cap="flat" cmpd="sng" w="18275">
            <a:solidFill>
              <a:srgbClr val="EF444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1775222" y="4207446"/>
            <a:ext cx="5593556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Para equipes com menos de 10 devs: Comece com um </a:t>
            </a:r>
            <a:r>
              <a:rPr b="1" i="0" lang="en-US" sz="109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Monolito Modular</a:t>
            </a: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9" name="Google Shape;3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571500" y="658341"/>
            <a:ext cx="4436269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Demo Prática: Spring Boot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71500" y="1318133"/>
            <a:ext cx="3786188" cy="33593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571500" y="1318133"/>
            <a:ext cx="3786188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1271588" y="1603883"/>
            <a:ext cx="2386013" cy="380405"/>
          </a:xfrm>
          <a:prstGeom prst="rect">
            <a:avLst/>
          </a:prstGeom>
          <a:solidFill>
            <a:srgbClr val="0F172A"/>
          </a:solidFill>
          <a:ln cap="flat" cmpd="sng" w="182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1271588" y="1603883"/>
            <a:ext cx="2386013" cy="380405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Frontend Thymeleaf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5" name="Google Shape;3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0300" y="2114662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2"/>
          <p:cNvSpPr/>
          <p:nvPr/>
        </p:nvSpPr>
        <p:spPr>
          <a:xfrm>
            <a:off x="1271588" y="2448632"/>
            <a:ext cx="2386013" cy="380405"/>
          </a:xfrm>
          <a:prstGeom prst="rect">
            <a:avLst/>
          </a:prstGeom>
          <a:solidFill>
            <a:srgbClr val="0F172A"/>
          </a:solidFill>
          <a:ln cap="flat" cmpd="sng" w="182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1271588" y="2448632"/>
            <a:ext cx="2386013" cy="380405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API Gateway (:8080)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8" name="Google Shape;37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0300" y="2959410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2"/>
          <p:cNvSpPr/>
          <p:nvPr/>
        </p:nvSpPr>
        <p:spPr>
          <a:xfrm>
            <a:off x="1214438" y="3450543"/>
            <a:ext cx="2500313" cy="2803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1214438" y="3450543"/>
            <a:ext cx="2500313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produto-service :8081 → H2 DB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214438" y="3802373"/>
            <a:ext cx="2500313" cy="2803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1214438" y="3802373"/>
            <a:ext cx="2500313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pedido-service :8082 → H2 DB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214438" y="4154202"/>
            <a:ext cx="2500313" cy="2803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1214438" y="4154202"/>
            <a:ext cx="2500313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usuario-service :8083 → H2 DB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786313" y="1460422"/>
            <a:ext cx="378618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STACK TECNOLÓGICA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786313" y="1810466"/>
            <a:ext cx="3786188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Spring Boot 3 | Thymeleaf | H2 Database | RestTemplate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4786313" y="2371251"/>
            <a:ext cx="378618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FLUXO DE EXECUÇÃO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4786313" y="2721294"/>
            <a:ext cx="10179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4995267" y="2721294"/>
            <a:ext cx="61079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Interface: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5663208" y="2721294"/>
            <a:ext cx="200560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Usuário interage com o frontend.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4786313" y="2983827"/>
            <a:ext cx="12680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5020270" y="2983827"/>
            <a:ext cx="8001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Roteamento: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5877520" y="2983827"/>
            <a:ext cx="242351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Gateway direciona para pedido-service.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786313" y="3246360"/>
            <a:ext cx="12680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020270" y="3246360"/>
            <a:ext cx="71794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Integração: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5795367" y="3246360"/>
            <a:ext cx="209133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Pedido consulta Produto via REST.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786313" y="3508893"/>
            <a:ext cx="13037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5023842" y="3508893"/>
            <a:ext cx="66436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Validação: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5745361" y="3508893"/>
            <a:ext cx="208240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Pedido consulta Usuário via REST.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4786313" y="3771426"/>
            <a:ext cx="12323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5016698" y="3771426"/>
            <a:ext cx="81974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Persistência: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5893594" y="3771426"/>
            <a:ext cx="216991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Salva no banco H2 local do serviço.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8" name="Google Shape;4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3"/>
          <p:cNvSpPr/>
          <p:nvPr/>
        </p:nvSpPr>
        <p:spPr>
          <a:xfrm>
            <a:off x="571500" y="658341"/>
            <a:ext cx="8572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Conclusão e Takeaways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571500" y="1286991"/>
            <a:ext cx="2524116" cy="194851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571500" y="1286991"/>
            <a:ext cx="2524116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2" name="Google Shape;41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013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3"/>
          <p:cNvSpPr/>
          <p:nvPr/>
        </p:nvSpPr>
        <p:spPr>
          <a:xfrm>
            <a:off x="750094" y="1974633"/>
            <a:ext cx="216692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Use quando necessário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750094" y="2292530"/>
            <a:ext cx="216692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Microserviços resolvem problemas de escala real. Não adote por modismo, mas por necessidade técnica.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3309928" y="1286991"/>
            <a:ext cx="2524116" cy="194851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3309928" y="1286991"/>
            <a:ext cx="2524116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8522" y="15013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3"/>
          <p:cNvSpPr/>
          <p:nvPr/>
        </p:nvSpPr>
        <p:spPr>
          <a:xfrm>
            <a:off x="3488522" y="1974633"/>
            <a:ext cx="216692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Monolito Modular primeiro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3488522" y="2292530"/>
            <a:ext cx="216692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Para times pequenos, comece organizado e extraia serviços apenas quando a dor da escala for real.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6048356" y="1286991"/>
            <a:ext cx="2524116" cy="190565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6048356" y="1286991"/>
            <a:ext cx="2524116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6950" y="15013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3"/>
          <p:cNvSpPr/>
          <p:nvPr/>
        </p:nvSpPr>
        <p:spPr>
          <a:xfrm>
            <a:off x="6226950" y="1974633"/>
            <a:ext cx="216692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Invista em Observabilidade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6226950" y="2292530"/>
            <a:ext cx="2166928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Sem logs, métricas e tracing distribuído, microserviços tornam-se um pesadelo operacional.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571500" y="3535542"/>
            <a:ext cx="8001000" cy="56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8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97"/>
              <a:buFont typeface="Inter"/>
              <a:buNone/>
            </a:pPr>
            <a:r>
              <a:rPr b="1" i="1" lang="en-US" sz="139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"A arquitetura de microserviços não é uma bala de prata — é uma ferramenta poderosa que exige maturidade para ser bem utilizada."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0" y="4430911"/>
            <a:ext cx="9144000" cy="71258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0" y="4430911"/>
            <a:ext cx="9144000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571500" y="4580930"/>
            <a:ext cx="113407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2"/>
              <a:buFont typeface="Inter"/>
              <a:buNone/>
            </a:pPr>
            <a:r>
              <a:rPr b="1" i="0" lang="en-US" sz="160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Obrigado!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6266855" y="4632722"/>
            <a:ext cx="230564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Dúvidas? | UniSENAI — ADS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2026-04-15T23:28:54Z</dcterms:created>
  <dc:creator>PptxGenJS</dc:creator>
</cp:coreProperties>
</file>